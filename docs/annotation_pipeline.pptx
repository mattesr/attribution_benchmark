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docs/s</c:v>
                </c:pt>
              </c:strCache>
            </c:strRef>
          </c:tx>
          <c:dPt>
            <c:idx val="0"/>
            <c:spPr>
              <a:solidFill>
                <a:srgbClr val="1F6F6B"/>
              </a:solidFill>
            </c:spPr>
          </c:dPt>
          <c:dPt>
            <c:idx val="1"/>
            <c:spPr>
              <a:solidFill>
                <a:srgbClr val="1F6F6B"/>
              </a:solidFill>
            </c:spPr>
          </c:dPt>
          <c:dPt>
            <c:idx val="2"/>
            <c:spPr>
              <a:solidFill>
                <a:srgbClr val="E9A23B"/>
              </a:solidFill>
            </c:spPr>
          </c:dPt>
          <c:cat>
            <c:strRef>
              <c:f>Sheet1!$A$2:$A$4</c:f>
              <c:strCache>
                <c:ptCount val="3"/>
                <c:pt idx="0">
                  <c:v>H100 (fp8)</c:v>
                </c:pt>
                <c:pt idx="1">
                  <c:v>L40S (fp8)</c:v>
                </c:pt>
                <c:pt idx="2">
                  <c:v>A100 (bf16, Triton)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32</c:v>
                </c:pt>
                <c:pt idx="2">
                  <c:v>12</c:v>
                </c:pt>
              </c:numCache>
            </c:numRef>
          </c:val>
        </c:ser>
        <c:dLbls>
          <c:numFmt formatCode="0&quot; docs/s&quot;" sourceLinked="0"/>
          <c:txPr>
            <a:bodyPr/>
            <a:lstStyle/>
            <a:p>
              <a:pPr>
                <a:defRPr sz="1400" b="1">
                  <a:solidFill>
                    <a:srgbClr val="1E2A2E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B6B70"/>
            </a:solidFill>
          </a:ln>
        </c:spPr>
        <c:txPr>
          <a:bodyPr/>
          <a:lstStyle/>
          <a:p>
            <a:pPr>
              <a:defRPr sz="14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1417320"/>
            <a:ext cx="274320" cy="27432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Oval 2"/>
          <p:cNvSpPr/>
          <p:nvPr/>
        </p:nvSpPr>
        <p:spPr>
          <a:xfrm>
            <a:off x="1207008" y="1417320"/>
            <a:ext cx="274320" cy="27432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" name="Oval 3"/>
          <p:cNvSpPr/>
          <p:nvPr/>
        </p:nvSpPr>
        <p:spPr>
          <a:xfrm>
            <a:off x="1591056" y="1417320"/>
            <a:ext cx="274320" cy="27432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Annotating Comma v0.1 with silver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E8F1EF"/>
                </a:solidFill>
                <a:latin typeface="Calibri"/>
              </a:rPr>
              <a:t>propella-1 + WebOrganizer: code flow, settings, and how to run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9A23B"/>
                </a:solidFill>
                <a:latin typeface="Calibri"/>
              </a:rPr>
              <a:t>Attribution benchmark (P4) · Mattes Ruckdeschel · ITU Copenhagen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Every document gets silver labels for pre-filtering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B6B70"/>
                </a:solidFill>
                <a:latin typeface="Calibri"/>
              </a:rPr>
              <a:t>Stage 1 of the benchmark: label the whole corpus once, select attribution candidates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1F6F6B"/>
                </a:solidFill>
                <a:latin typeface="Cambria"/>
              </a:rPr>
              <a:t>784M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B70"/>
                </a:solidFill>
                <a:latin typeface="Calibri"/>
              </a:rPr>
              <a:t>documents in Comma v0.1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79" y="178308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1F6F6B"/>
                </a:solidFill>
                <a:latin typeface="Cambria"/>
              </a:rPr>
              <a:t>704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79" y="26974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B70"/>
                </a:solidFill>
                <a:latin typeface="Calibri"/>
              </a:rPr>
              <a:t>files in scope (web sources first)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178308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1F6F6B"/>
                </a:solidFill>
                <a:latin typeface="Cambria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26974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B70"/>
                </a:solidFill>
                <a:latin typeface="Calibri"/>
              </a:rPr>
              <a:t>label fields per document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3337560" cy="21031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749039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2343B"/>
                </a:solidFill>
                <a:latin typeface="Calibri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976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Comma v0.1 on Hugging Face, pinned revision; 64 gzipped JSONL files per source, text only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50208" y="4617720"/>
            <a:ext cx="411480" cy="292608"/>
          </a:xfrm>
          <a:prstGeom prst="rightArrow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520440"/>
            <a:ext cx="3337560" cy="21031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749039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2343B"/>
                </a:solidFill>
                <a:latin typeface="Calibri"/>
              </a:rPr>
              <a:t>Annotators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2976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WebOrganizer: topic + format (24 each)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propella-1-4b: 18 properties incl. one-sentence description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90688" y="4617720"/>
            <a:ext cx="411480" cy="292608"/>
          </a:xfrm>
          <a:prstGeom prst="rightArrow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3520440"/>
            <a:ext cx="3337560" cy="21031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749039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2343B"/>
                </a:solidFill>
                <a:latin typeface="Calibri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2976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One Parquet file per file and annotator; documents addressed as (file, row)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One loop per GPU, one file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B6B70"/>
                </a:solidFill>
                <a:latin typeface="Calibri"/>
              </a:rPr>
              <a:t>python -m pipeline.run &lt;annotator&gt;: every process repeats these steps until no file is left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337560" cy="19202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5740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2343B"/>
                </a:solidFill>
                <a:latin typeface="Calibri"/>
              </a:rPr>
              <a:t>Pick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Next file in priority order that is not done and not locked (within this machine's part of the list)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50208" y="2606040"/>
            <a:ext cx="411480" cy="292608"/>
          </a:xfrm>
          <a:prstGeom prst="rightArrow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337560" cy="19202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2011680"/>
            <a:ext cx="457200" cy="45720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05740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2343B"/>
                </a:solidFill>
                <a:latin typeface="Calibri"/>
              </a:rPr>
              <a:t>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Create data/locks/…/&lt;file&gt;.lock so no other process takes 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90688" y="2606040"/>
            <a:ext cx="411480" cy="292608"/>
          </a:xfrm>
          <a:prstGeom prst="rightArrow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783080"/>
            <a:ext cx="3337560" cy="19202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2011680"/>
            <a:ext cx="457200" cy="45720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5740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2343B"/>
                </a:solidFill>
                <a:latin typeface="Calibri"/>
              </a:rPr>
              <a:t>Download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Raw file to data/raw/ (kept); logged as “downloaded”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80"/>
            <a:ext cx="3337560" cy="19202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4340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2343B"/>
                </a:solidFill>
                <a:latin typeface="Calibri"/>
              </a:rPr>
              <a:t>Annotate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93776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Batches of documents; results appended to &lt;file&gt;.partial.jsonl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950208" y="4892040"/>
            <a:ext cx="411480" cy="292608"/>
          </a:xfrm>
          <a:prstGeom prst="rightArrow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4069080"/>
            <a:ext cx="3337560" cy="19202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17720" y="4297680"/>
            <a:ext cx="457200" cy="45720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34340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2343B"/>
                </a:solidFill>
                <a:latin typeface="Calibri"/>
              </a:rPr>
              <a:t>Finish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93776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All rows done → &lt;file&gt;.parquet; logged as “annotated” in progress.tsv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790688" y="4892040"/>
            <a:ext cx="411480" cy="292608"/>
          </a:xfrm>
          <a:prstGeom prst="rightArrow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4069080"/>
            <a:ext cx="3337560" cy="19202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58200" y="4297680"/>
            <a:ext cx="457200" cy="45720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34340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2343B"/>
                </a:solidFill>
                <a:latin typeface="Calibri"/>
              </a:rPr>
              <a:t>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93776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Remove the lock, go back to step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B6B70"/>
                </a:solidFill>
                <a:latin typeface="Calibri"/>
              </a:rPr>
              <a:t>A killed process loses at most the batch in flight: the partial file is the checkpoint and is resumed.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Small code base: five modules and three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6F6B"/>
                </a:solidFill>
                <a:latin typeface="Calibri"/>
              </a:rPr>
              <a:t>Python package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74980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343B"/>
                </a:solidFill>
                <a:latin typeface="Courier New"/>
              </a:rPr>
              <a:t>pipeline/common.py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File list, download, progress log, 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24912"/>
            <a:ext cx="5394960" cy="74980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163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343B"/>
                </a:solidFill>
                <a:latin typeface="Courier New"/>
              </a:rPr>
              <a:t>pipeline/run.py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3639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The loop: CLI, batching, checkpointing, Parquet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21024"/>
            <a:ext cx="5394960" cy="74980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12463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343B"/>
                </a:solidFill>
                <a:latin typeface="Courier New"/>
              </a:rPr>
              <a:t>pipeline/weborganizer_annotator.py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3250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Topic + format classifiers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17136"/>
            <a:ext cx="5394960" cy="74980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608575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343B"/>
                </a:solidFill>
                <a:latin typeface="Courier New"/>
              </a:rPr>
              <a:t>pipeline/propella_annotator.py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2861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propella via SGLang or transformers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13248"/>
            <a:ext cx="5394960" cy="74980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0468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343B"/>
                </a:solidFill>
                <a:latin typeface="Courier New"/>
              </a:rPr>
              <a:t>pipeline/status.py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247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Overview table from progress.tsv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25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6F6B"/>
                </a:solidFill>
                <a:latin typeface="Calibri"/>
              </a:rPr>
              <a:t>Scripts and 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5394960" cy="74980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9202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343B"/>
                </a:solidFill>
                <a:latin typeface="Courier New"/>
              </a:rPr>
              <a:t>slurm/annotate.sbatch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2402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One GPU per array task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724912"/>
            <a:ext cx="5394960" cy="74980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8163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343B"/>
                </a:solidFill>
                <a:latin typeface="Courier New"/>
              </a:rPr>
              <a:t>slurm_startup.sh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13639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Modules (GCC, CUDA) + venv +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21024"/>
            <a:ext cx="5394960" cy="74980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712463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343B"/>
                </a:solidFill>
                <a:latin typeface="Courier New"/>
              </a:rPr>
              <a:t>slurm/check.sh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3250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Jobs, latest progress, status table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517136"/>
            <a:ext cx="5394960" cy="74980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608575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343B"/>
                </a:solidFill>
                <a:latin typeface="Courier New"/>
              </a:rPr>
              <a:t>docs/DATA.md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92861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Data card for downstream users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413248"/>
            <a:ext cx="5394960" cy="74980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50468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343B"/>
                </a:solidFill>
                <a:latin typeface="Courier New"/>
              </a:rPr>
              <a:t>README.md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8247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Design and run instructions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B6B70"/>
                </a:solidFill>
                <a:latin typeface="Calibri"/>
              </a:rPr>
              <a:t>New annotator = one module with add_args(ap) and load(args) → annotate(texts), registered in run.py.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Labels per document, text joined by (file, row)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55448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2343B"/>
                </a:solidFill>
                <a:latin typeface="Calibri"/>
              </a:rPr>
              <a:t>WebOrganizer  ·  NoURL classifiers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103120"/>
            <a:ext cx="4937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topic, format: argmax label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topic_prob, format_prob: its probability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topic_probs, format_probs: all 24 probabilities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Input truncated at 8,192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2343B"/>
                </a:solidFill>
                <a:latin typeface="Calibri"/>
              </a:rPr>
              <a:t>propella-1-4b  ·  18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937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one_sentence_description (English)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12 single-choice: quality, density, educational value, audience, safety, …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5 multi-select: content type, sector, technical content, region, country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ok: parsed and schema-valid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1B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51960"/>
            <a:ext cx="10607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A23B"/>
                </a:solidFill>
                <a:latin typeface="Courier New"/>
              </a:rPr>
              <a:t># text is not duplicated: read it from the raw file by row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texts = [json.loads(l)["text"] for l in gzip.open("data/raw/cccc/cccc.chunk.00.jsonl.gz", "rt")]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ann = pq.read_table("data/annotations/propella/cccc/cccc.chunk.00.parquet").to_pandas()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ann["text"] = ann["row"].map(texts.__getitem__)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Coordination needs no server: locks, a log, and --part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2343B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2343B"/>
                </a:solidFill>
                <a:latin typeface="Calibri"/>
              </a:rPr>
              <a:t>Lock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Shared filesystem (cluster): workers never take the same file. Stale locks from dead processes on the same host are removed automatically.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2343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718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2343B"/>
                </a:solidFill>
                <a:latin typeface="Calibri"/>
              </a:rPr>
              <a:t>progress.tsv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290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Append-only log in git, one line per downloaded / annotated file. Merging machines = keeping all lines (merge=union).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2343B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2343B"/>
                </a:solidFill>
                <a:latin typeface="Courier New"/>
              </a:rPr>
              <a:t>--part i/n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0292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Machines without shared locks split the file list by position mod 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212080" cy="475488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2343B"/>
                </a:solidFill>
                <a:latin typeface="Calibri"/>
              </a:rPr>
              <a:t>Current split: cluster 0,1/3 · cir 2/3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22402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2402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22402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3B"/>
                </a:solidFill>
                <a:latin typeface="Calibri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2402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2402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07040" y="22402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3B"/>
                </a:solidFill>
                <a:latin typeface="Calibri"/>
              </a:rPr>
              <a:t>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31546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1546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31546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3B"/>
                </a:solidFill>
                <a:latin typeface="Calibri"/>
              </a:rPr>
              <a:t>08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59" y="31546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31546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07040" y="31546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3B"/>
                </a:solidFill>
                <a:latin typeface="Calibri"/>
              </a:rPr>
              <a:t>11</a:t>
            </a:r>
          </a:p>
        </p:txBody>
      </p:sp>
      <p:sp>
        <p:nvSpPr>
          <p:cNvPr id="26" name="Oval 25"/>
          <p:cNvSpPr/>
          <p:nvPr/>
        </p:nvSpPr>
        <p:spPr>
          <a:xfrm>
            <a:off x="6720840" y="4206240"/>
            <a:ext cx="274320" cy="27432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2062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cluster (2 of every 3 files)</a:t>
            </a:r>
          </a:p>
        </p:txBody>
      </p:sp>
      <p:sp>
        <p:nvSpPr>
          <p:cNvPr id="28" name="Oval 27"/>
          <p:cNvSpPr/>
          <p:nvPr/>
        </p:nvSpPr>
        <p:spPr>
          <a:xfrm>
            <a:off x="6720840" y="4617720"/>
            <a:ext cx="274320" cy="27432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6177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A2E"/>
                </a:solidFill>
                <a:latin typeface="Calibri"/>
              </a:rPr>
              <a:t>cir (1 of every 3 files)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1206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B6B70"/>
                </a:solidFill>
                <a:latin typeface="Calibri"/>
              </a:rPr>
              <a:t>Ratio follows GPU speed. When one side runs out: sync progress.tsv, restart it without a part.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Settings shared by all runs, and WebOrganizer's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94560"/>
                <a:gridCol w="6126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91440" marR="91440" marT="36576" marB="36576" anchor="ctr">
                    <a:solidFill>
                      <a:srgbClr val="123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91440" marR="91440" marT="36576" marB="36576" anchor="ctr">
                    <a:solidFill>
                      <a:srgbClr val="123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91440" marR="91440" marT="36576" marB="36576" anchor="ctr">
                    <a:solidFill>
                      <a:srgbClr val="12343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ourier New"/>
                        </a:rPr>
                        <a:t>--sources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priority list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Comma-separated sources; otherwise PRIORITY in common.py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ourier New"/>
                        </a:rPr>
                        <a:t>--part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all files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i/n or i,j/n: share of the file list for this machine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ourier New"/>
                        </a:rPr>
                        <a:t>--max-shards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0 (no limit)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Stop after N files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ourier New"/>
                        </a:rPr>
                        <a:t>--limit-docs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0 (no limit)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Prototype: N documents per file; the file stays partial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ourier New"/>
                        </a:rPr>
                        <a:t>--batch-size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1024 / 2048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Docs per checkpoint (WebOrganizer / propella)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ourier New"/>
                        </a:rPr>
                        <a:t>--max-length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8192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WebOrganizer token truncation (as in the paper's scripts)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ourier New"/>
                        </a:rPr>
                        <a:t>--max-batch-tokens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32768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WebOrganizer padded tokens per forward pass; lower on OOM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ourier New"/>
                        </a:rPr>
                        <a:t>--xformers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Unpadded memory-efficient attention (needs xformers)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ourier New"/>
                        </a:rPr>
                        <a:t>ATTRIB_DATA (env)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./data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2E"/>
                          </a:solidFill>
                          <a:latin typeface="Calibri"/>
                        </a:rPr>
                        <a:t>Where raw files, annotations and locks live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propella settings: backend, precision, concurrency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69494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92024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91440" marR="91440" marT="36576" marB="36576" anchor="ctr">
                    <a:solidFill>
                      <a:srgbClr val="123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91440" marR="91440" marT="36576" marB="36576" anchor="ctr">
                    <a:solidFill>
                      <a:srgbClr val="123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91440" marR="91440" marT="36576" marB="36576" anchor="ctr">
                    <a:solidFill>
                      <a:srgbClr val="12343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2E"/>
                          </a:solidFill>
                          <a:latin typeface="Courier New"/>
                        </a:rPr>
                        <a:t>--backend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transformers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sglang for real runs (~10× faster)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2E"/>
                          </a:solidFill>
                          <a:latin typeface="Courier New"/>
                        </a:rPr>
                        <a:t>--fp8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H100 / L40S only, not A100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2E"/>
                          </a:solidFill>
                          <a:latin typeface="Courier New"/>
                        </a:rPr>
                        <a:t>--concurrency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Requests in flight (server max 256)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2E"/>
                          </a:solidFill>
                          <a:latin typeface="Courier New"/>
                        </a:rPr>
                        <a:t>--max-chars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50000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Input truncation (model card)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2E"/>
                          </a:solidFill>
                          <a:latin typeface="Courier New"/>
                        </a:rPr>
                        <a:t>--sglang-args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""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Extra server flags (e.g. Triton)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2E"/>
                          </a:solidFill>
                          <a:latin typeface="Courier New"/>
                        </a:rPr>
                        <a:t>--base-url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start own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Reuse a running server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2E"/>
                          </a:solidFill>
                          <a:latin typeface="Courier New"/>
                        </a:rPr>
                        <a:t>--model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propella-1-4b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Also 1.7b / 0.6b</a:t>
                      </a:r>
                    </a:p>
                  </a:txBody>
                  <a:tcPr marL="91440" marR="91440" marT="36576" marB="36576" anchor="ctr">
                    <a:solidFill>
                      <a:srgbClr val="E8F1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2E"/>
                          </a:solidFill>
                          <a:latin typeface="Courier New"/>
                        </a:rPr>
                        <a:t>--max-input-tokens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8192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2E"/>
                          </a:solidFill>
                          <a:latin typeface="Calibri"/>
                        </a:rPr>
                        <a:t>transformers backend only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1371600"/>
            <a:ext cx="3749039" cy="34747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155448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2343B"/>
                </a:solidFill>
                <a:latin typeface="Calibri"/>
              </a:rPr>
              <a:t>Fixed server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5740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context 65,536 · max 256 running requests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chunked prefill 8,192 · mixed chunks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llguidance: JSON schema enforced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memory fraction 0.7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333756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2343B"/>
                </a:solidFill>
                <a:latin typeface="Calibri"/>
              </a:rPr>
              <a:t>Decoding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79476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Sampled with the model's defaults: temperature 0.7, top-k 20, top-p 0.8. Greedy (temperature 0) is an open option.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On the SLURM cluster: one array task per GPU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1B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309360" cy="3794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A23B"/>
                </a:solidFill>
                <a:latin typeface="Courier New"/>
              </a:rPr>
              <a:t># interactive session (tests)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srun -w cn11 --gres=gpu:1 -c 8 --mem=64G --pty bash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source slurm_startup.sh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A23B"/>
                </a:solidFill>
                <a:latin typeface="Courier New"/>
              </a:rPr>
              <a:t># batch: 2× H100 on cn11, up to 4× L40S on cn19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sbatch -w cn11 --array=0-1 slurm/annotate.sbatch \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propella --part 0,1/3 --backend sglang \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--fp8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A23B"/>
                </a:solidFill>
                <a:latin typeface="Courier New"/>
              </a:rPr>
              <a:t># daily check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bash slurm/check.sh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A23B"/>
                </a:solidFill>
                <a:latin typeface="Courier New"/>
              </a:rPr>
              <a:t># continue after the 7-day limit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sbatch --dependency=afterany:&lt;JOBID&gt;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3716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6F6B"/>
                </a:solidFill>
                <a:latin typeface="Calibri"/>
              </a:rPr>
              <a:t>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75564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slurm_startup.sh loads GCC/13.3.0 + CUDA/12.6.0: SGLang compiles kernels at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6060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6F6B"/>
                </a:solidFill>
                <a:latin typeface="Calibri"/>
              </a:rPr>
              <a:t>GPUs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99008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Tasks wait for free GPUs and start on their own. A %2 after the array range caps them at two.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8404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6F6B"/>
                </a:solidFill>
                <a:latin typeface="Calibri"/>
              </a:rPr>
              <a:t>Time 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22452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7 days. SIGTERM 5 min before: lock released, file resumes in the next job.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50749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6F6B"/>
                </a:solidFill>
                <a:latin typeface="Calibri"/>
              </a:rPr>
              <a:t>Follow-up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45896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Queue the next job as a dependency of the current one (last command).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On other machines: one plain process per free GPU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6766560" cy="2240280"/>
          </a:xfrm>
          <a:prstGeom prst="roundRect">
            <a:avLst>
              <a:gd name="adj" fmla="val 6000"/>
            </a:avLst>
          </a:prstGeom>
          <a:solidFill>
            <a:srgbClr val="1B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30936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A23B"/>
                </a:solidFill>
                <a:latin typeface="Courier New"/>
              </a:rPr>
              <a:t># cir: 4× A100, one process per free GPU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CUDA_VISIBLE_DEVICES=3 nohup .venv/bin/python \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-m pipeline.run propella --part 2/3 \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--backend sglang \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--sglang-args "--attention-backend triton \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            --sampling-backend pytorch" &amp;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6766560" cy="1234440"/>
          </a:xfrm>
          <a:prstGeom prst="roundRect">
            <a:avLst>
              <a:gd name="adj" fmla="val 6000"/>
            </a:avLst>
          </a:prstGeom>
          <a:solidFill>
            <a:srgbClr val="1B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6309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A23B"/>
                </a:solidFill>
                <a:latin typeface="Courier New"/>
              </a:rPr>
              <a:t># laptop / CPU: prototype on a few documents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python -m pipeline.run weborganizer \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--sources news --max-shards 1 --limit-docs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6F6B"/>
                </a:solidFill>
                <a:latin typeface="Calibri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75564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uv sync, then uv pip install "sglang[all]" on GPU machines (never uv sync afterwards).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060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6F6B"/>
                </a:solidFill>
                <a:latin typeface="Calibri"/>
              </a:rPr>
              <a:t>A100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99008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No fp8. Triton fallback when flashinfer can't compile kernels.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8404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6F6B"/>
                </a:solidFill>
                <a:latin typeface="Calibri"/>
              </a:rPr>
              <a:t>Sharing GPUs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22452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Start only on free GPUs; kill the PID to hand one 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50749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6F6B"/>
                </a:solidFill>
                <a:latin typeface="Calibri"/>
              </a:rPr>
              <a:t>No SGLang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545896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The transformers backend works anywhere, ~10× slower.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So far an H100 is ~3.5× faster than an A100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B6B70"/>
                </a:solidFill>
                <a:latin typeface="Calibri"/>
              </a:rPr>
              <a:t>propella-1-4b via SGLang, docs/s per GPU on the shortest cccc documents (first minutes of each file)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645920"/>
            <a:ext cx="3749039" cy="44805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82880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2343B"/>
                </a:solidFill>
                <a:latin typeface="Calibri"/>
              </a:rPr>
              <a:t>Read with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33172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Files are processed shortest-first, so these rates drop as documents get longer.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Full-file numbers come from progress.tsv once the first files finish.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A2E"/>
                </a:solidFill>
                <a:latin typeface="Calibri"/>
              </a:rPr>
              <a:t>cccc averages 8,400 characters per document; chars/s is the better basis for the whole corpus.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Open points before the full run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2343B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A23B"/>
                </a:solidFill>
                <a:latin typeface="Calibri"/>
              </a:rPr>
              <a:t>Decoding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481328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Sampled (temperature 0.7). Measure label agreement vs. greedy on a sample.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2343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5059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A23B"/>
                </a:solidFill>
                <a:latin typeface="Calibri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468879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fp8 on the cluster, bf16 on cir. Same quality per model card, not bit-identical.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92424"/>
            <a:ext cx="457200" cy="45720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2343B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438144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A23B"/>
                </a:solidFill>
                <a:latin typeface="Calibri"/>
              </a:rPr>
              <a:t>wikiteam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456432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64 extra NNNNN_wikiteam.json.gz files: in the training mix or not?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2343B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25696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A23B"/>
                </a:solidFill>
                <a:latin typeface="Calibri"/>
              </a:rP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443984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Annotations live on each machine; central copy / HF release still open.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367528"/>
            <a:ext cx="457200" cy="45720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2343B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413248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A23B"/>
                </a:solidFill>
                <a:latin typeface="Calibri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431536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Silver labels not yet checked against human judgement on Comma.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